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596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286000" cy="822960"/>
          </a:xfrm>
          <a:prstGeom prst="rect">
            <a:avLst/>
          </a:prstGeom>
          <a:noFill/>
        </p:spPr>
        <p:txBody>
          <a:bodyPr wrap="square" tIns="0" bIns="0" rIns="0">
            <a:spAutoFit/>
          </a:bodyPr>
          <a:lstStyle/>
          <a:p>
            <a:pPr algn="r">
              <a:defRPr sz="1300" b="1">
                <a:solidFill>
                  <a:srgbClr val="005596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F37021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2801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 Problem Statement ID – </a:t>
            </a:r>
            <a:r>
              <a:rPr sz="1700" b="1">
                <a:solidFill>
                  <a:srgbClr val="1E293B"/>
                </a:solidFill>
                <a:latin typeface="Arial"/>
              </a:rPr>
              <a:t>SIH26085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 Problem Statement Title- </a:t>
            </a:r>
            <a:r>
              <a:rPr sz="1700" b="0">
                <a:solidFill>
                  <a:srgbClr val="1E293B"/>
                </a:solidFill>
                <a:latin typeface="Arial"/>
              </a:rPr>
              <a:t>Smart River Water Level and Quality Surveillance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 Theme- </a:t>
            </a:r>
            <a:r>
              <a:rPr sz="1700" b="0">
                <a:solidFill>
                  <a:srgbClr val="1E293B"/>
                </a:solidFill>
                <a:latin typeface="Arial"/>
              </a:rPr>
              <a:t>AI / IoT / Environment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 PS Category- </a:t>
            </a:r>
            <a:r>
              <a:rPr sz="1700" b="0">
                <a:solidFill>
                  <a:srgbClr val="1E293B"/>
                </a:solidFill>
                <a:latin typeface="Arial"/>
              </a:rPr>
              <a:t>Software/Hardware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 Team ID- </a:t>
            </a:r>
            <a:r>
              <a:rPr sz="1700" b="0">
                <a:solidFill>
                  <a:srgbClr val="1E293B"/>
                </a:solidFill>
                <a:latin typeface="Arial"/>
              </a:rPr>
              <a:t>To be assigned upon portal generation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 Team Name (Registered on portal)- </a:t>
            </a:r>
            <a:r>
              <a:rPr sz="1700" b="1">
                <a:solidFill>
                  <a:srgbClr val="005596"/>
                </a:solidFill>
                <a:latin typeface="Arial"/>
              </a:rPr>
              <a:t>FUN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64592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64646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FUN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286000" cy="822960"/>
          </a:xfrm>
          <a:prstGeom prst="rect">
            <a:avLst/>
          </a:prstGeom>
          <a:noFill/>
        </p:spPr>
        <p:txBody>
          <a:bodyPr wrap="square" tIns="0" bIns="0" rIns="0">
            <a:spAutoFit/>
          </a:bodyPr>
          <a:lstStyle/>
          <a:p>
            <a:pPr algn="r">
              <a:defRPr sz="1300" b="1">
                <a:solidFill>
                  <a:srgbClr val="005596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F37021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SMART RIVER SURVEILLANCE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596"/>
                </a:solidFill>
                <a:latin typeface="Arial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Detailed explanation of the proposed solution: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   - Live IoT Telemetry: Real-time integration with 40+ national river monitoring stations (CPCB RTWQMS) capturing 12 parameters (DO, BOD, COD, pH, Turbidity, Nitrate, Temp, River Stage).</a:t>
            </a:r>
            <a:br/>
            <a:r>
              <a:t>   - Automated Mathematical WQI Engine: Real-time Water Quality Index (0-100) computation with dynamic hazard classification.</a:t>
            </a:r>
            <a:br/>
            <a:r>
              <a:t>   - GIS Spatial Mapping &amp; Live Camera: Interactive map with sensor risk pins &amp; synchronized live station camera feeds.</a:t>
            </a:r>
          </a:p>
          <a:p>
            <a:pPr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How it addresses the problem: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   - Eliminates manual water sampling delays (3-5 days) with instant sub-second continuous monitoring.</a:t>
            </a:r>
            <a:br/>
            <a:r>
              <a:t>   - Early Flood &amp; Contamination Alerts: Instant flood stage surge alerts and pollution spike tracing.</a:t>
            </a:r>
            <a:br/>
            <a:r>
              <a:t>   - One-Click Official Reporting: Instant PDF inspection report and CSV metadata exports for CPCB/SPCB authorities.</a:t>
            </a:r>
          </a:p>
          <a:p>
            <a:pPr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Innovation and uniqueness of the solution: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   - Zero-Cost Serverless CORS Proxy: Micro-architecture bypassing government server restrictions seamlessly.</a:t>
            </a:r>
            <a:br/>
            <a:r>
              <a:t>   - Offline-Resilient Fallback Layer: Zero platform crash even during upstream government server maintenance.</a:t>
            </a:r>
            <a:br/>
            <a:r>
              <a:t>   - Tokenized Instant Photo Pre-loader: 0-second lag-free station camera photo switching.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64592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64646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FUN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286000" cy="822960"/>
          </a:xfrm>
          <a:prstGeom prst="rect">
            <a:avLst/>
          </a:prstGeom>
          <a:noFill/>
        </p:spPr>
        <p:txBody>
          <a:bodyPr wrap="square" tIns="0" bIns="0" rIns="0">
            <a:spAutoFit/>
          </a:bodyPr>
          <a:lstStyle/>
          <a:p>
            <a:pPr algn="r">
              <a:defRPr sz="1300" b="1">
                <a:solidFill>
                  <a:srgbClr val="005596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F37021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Technologies to be used (e.g. programming languages, frameworks, hardware):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   - Frontend: HTML5, Modern Glassmorphic CSS3 (Dark/Light Responsive Theme Engine), JavaScript (ES6+).</a:t>
            </a:r>
            <a:br/>
            <a:r>
              <a:t>   - Mapping &amp; Visuals: Leaflet.js Spatial Mapping, OpenStreetMap tiles, Chart.js multi-axis telemetry graphs.</a:t>
            </a:r>
            <a:br/>
            <a:r>
              <a:t>   - Backend &amp; Middleware: Node.js Serverless Function (/api/live-data) on Vercel Edge + Render Express Proxy.</a:t>
            </a:r>
            <a:br/>
            <a:r>
              <a:t>   - Cloud &amp; Hosting: Vercel Global Edge CDN, Automated CI/CD Git Pipeline, HTTPS SSL Encryption.</a:t>
            </a:r>
            <a:br/>
            <a:r>
              <a:t>   - Working Live Prototype: https://smart-river-surveillance-project.vercel.app/</a:t>
            </a:r>
          </a:p>
          <a:p>
            <a:pPr>
              <a:spcAft>
                <a:spcPts val="4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Methodology and process for implementation (Flow Charts/Images/ working prototype):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   1. Data Ingestion: Automated polling from CPCB RTWQMS official telemetry streams with 25s timeout resilience.</a:t>
            </a:r>
            <a:br/>
            <a:r>
              <a:t>   2. Normalization &amp; Proxy: Cleans sensor data, handles CORS policy, structures JSON payload for 12 parameters.</a:t>
            </a:r>
            <a:br/>
            <a:r>
              <a:t>   3. WQI Computation Engine: Weighted sub-index formula calculates real-time river health score (0-100).</a:t>
            </a:r>
            <a:br/>
            <a:r>
              <a:t>   4. GIS &amp; Visual Sync: Auto-extracts river/state names, updates map pins, and synchronizes live camera photos.</a:t>
            </a:r>
            <a:br/>
            <a:r>
              <a:t>   5. Automated Reporting: Generates official A4 print inspection PDF reports and CSV exports with 1-click.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64592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64646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FUN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286000" cy="822960"/>
          </a:xfrm>
          <a:prstGeom prst="rect">
            <a:avLst/>
          </a:prstGeom>
          <a:noFill/>
        </p:spPr>
        <p:txBody>
          <a:bodyPr wrap="square" tIns="0" bIns="0" rIns="0">
            <a:spAutoFit/>
          </a:bodyPr>
          <a:lstStyle/>
          <a:p>
            <a:pPr algn="r">
              <a:defRPr sz="1300" b="1">
                <a:solidFill>
                  <a:srgbClr val="005596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F37021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Analysis of the feasibility of the idea: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   - High Technical Feasibility: 100% proven working prototype actively tracking 40+ river stations on major Indian rivers (Ganga, Yamuna, Godavari, Krishna, Narmada).</a:t>
            </a:r>
            <a:br/>
            <a:r>
              <a:t>   - Universal Accessibility: Zero-installation web portal running seamlessly on desktop, mobile, and tablets with &lt;0.5s loading time.</a:t>
            </a:r>
            <a:br/>
            <a:r>
              <a:t>   - Economic Sustainability: Zero monthly cloud maintenance cost using optimized serverless architecture.</a:t>
            </a:r>
          </a:p>
          <a:p>
            <a:pPr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Potential challenges and risks: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   - Upstream government server downtime, network timeouts, and browser CORS security blocking.</a:t>
            </a:r>
            <a:br/>
            <a:r>
              <a:t>   - Sensor telemetry data noise, occasional outlier spikes, or unmapped station coordinates.</a:t>
            </a:r>
          </a:p>
          <a:p>
            <a:pPr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Strategies for overcoming these challenges: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   - Multi-Tier Resilient Caching: Local fallback dataset ensures 100% zero-crash uptime during server outages.</a:t>
            </a:r>
            <a:br/>
            <a:r>
              <a:t>   - Edge Proxy Middleware: Vercel serverless layer bypasses CORS restrictions and handles SSL handshakes securely.</a:t>
            </a:r>
            <a:br/>
            <a:r>
              <a:t>   - Automated Validation: Client-side mathematical bounds filter outliers and validate sensor ranges.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64592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64646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FUN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286000" cy="822960"/>
          </a:xfrm>
          <a:prstGeom prst="rect">
            <a:avLst/>
          </a:prstGeom>
          <a:noFill/>
        </p:spPr>
        <p:txBody>
          <a:bodyPr wrap="square" tIns="0" bIns="0" rIns="0">
            <a:spAutoFit/>
          </a:bodyPr>
          <a:lstStyle/>
          <a:p>
            <a:pPr algn="r">
              <a:defRPr sz="1300" b="1">
                <a:solidFill>
                  <a:srgbClr val="005596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F37021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Potential impact on the target audience: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   - Environmental Officers (CPCB/SPCB): Instant digital oversight replacing delayed manual sampling reports.</a:t>
            </a:r>
            <a:br/>
            <a:r>
              <a:t>   - Disaster Management Authorities: Early flood warnings from continuous river level telemetry to protect riverside communities.</a:t>
            </a:r>
            <a:br/>
            <a:r>
              <a:t>   - General Public &amp; Researchers: Open transparency on water safety, drinking water intake health, and river pollution trends.</a:t>
            </a:r>
          </a:p>
          <a:p>
            <a:pPr>
              <a:spcAft>
                <a:spcPts val="4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Benefits of the solution (social, economic, environmental, etc.):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   - Environmental: Rapid tracing of toxic industrial discharge points; safeguards aquatic biodiversity and Namami Gange mission.</a:t>
            </a:r>
            <a:br/>
            <a:r>
              <a:t>   - Social: Prevents water-borne disease outbreaks by alerting treatment plants before toxic river water enters municipal pipelines.</a:t>
            </a:r>
            <a:br/>
            <a:r>
              <a:t>   - Economic: Saves crores of rupees spent on manual boat inspections, labor, laboratory chemicals, and manual testing logbooks.</a:t>
            </a:r>
            <a:br/>
            <a:r>
              <a:t>   - Governance: Instant 1-click A4 PDF inspection reports accelerate regulatory enforcement and official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64592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64646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FUN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286000" cy="822960"/>
          </a:xfrm>
          <a:prstGeom prst="rect">
            <a:avLst/>
          </a:prstGeom>
          <a:noFill/>
        </p:spPr>
        <p:txBody>
          <a:bodyPr wrap="square" tIns="0" bIns="0" rIns="0">
            <a:spAutoFit/>
          </a:bodyPr>
          <a:lstStyle/>
          <a:p>
            <a:pPr algn="r">
              <a:defRPr sz="1300" b="1">
                <a:solidFill>
                  <a:srgbClr val="005596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F37021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 Details / Links of the reference and research work: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   1. Central Pollution Control Board (CPCB) RTWQMS Official Telemetry Database:</a:t>
            </a:r>
            <a:br/>
            <a:r>
              <a:t>      - Real-Time Water Quality Monitoring System online portal (https://rtwqmsdb1.cpcb.gov.in/)</a:t>
            </a:r>
            <a:br/>
            <a:br/>
            <a:r>
              <a:t>   2. Central Water Commission (CWC) River Flood Hydrology &amp; Level Benchmarks:</a:t>
            </a:r>
            <a:br/>
            <a:r>
              <a:t>      - Advisory Flood Forecast &amp; River Stage standards (https://aff.india-water.gov.in/)</a:t>
            </a:r>
            <a:br/>
            <a:br/>
            <a:r>
              <a:t>   3. National Water Quality Monitoring Programme (NWMP) &amp; Namami Gange Guidelines:</a:t>
            </a:r>
            <a:br/>
            <a:r>
              <a:t>      - Ministry of Jal Shakti, Government of India (Parameter thresholds for DO, BOD, COD, pH, Turbidity)</a:t>
            </a:r>
            <a:br/>
            <a:br/>
            <a:r>
              <a:t>   4. Academic &amp; Mathematical Formulations:</a:t>
            </a:r>
            <a:br/>
            <a:r>
              <a:t>      - Brown, R.M., McClelland, N.I., Deininger, R.A. (1970). 'A Water Quality Index - Do We Dare?'</a:t>
            </a:r>
            <a:br/>
            <a:r>
              <a:t>      - Weighted Arithmetic Water Quality Index (WAWQI) Method for surface water classification</a:t>
            </a:r>
            <a:br/>
            <a:br/>
            <a:r>
              <a:t>   5. Live Working Prototype Deployment:</a:t>
            </a:r>
            <a:br/>
            <a:r>
              <a:t>      - Public Production Web Application: https://smart-river-surveillance-project.vercel.app/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