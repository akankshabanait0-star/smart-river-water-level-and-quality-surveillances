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p1_1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320040"/>
            <a:ext cx="1687068" cy="795528"/>
          </a:xfrm>
          <a:prstGeom prst="rect">
            <a:avLst/>
          </a:prstGeom>
        </p:spPr>
      </p:pic>
      <p:pic>
        <p:nvPicPr>
          <p:cNvPr id="3" name="Picture 2" descr="img_p1_0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1280160"/>
            <a:ext cx="2402654" cy="2569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9536" y="320040"/>
            <a:ext cx="6126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F497D"/>
                </a:solidFill>
                <a:latin typeface="Garamond"/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9544" y="1700784"/>
            <a:ext cx="2057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TITLE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5603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• Problem Statement ID – SIH26085</a:t>
            </a:r>
          </a:p>
          <a:p>
            <a:pPr>
              <a:spcAft>
                <a:spcPts val="100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• Problem Statement Title- Smart River Surveillance</a:t>
            </a:r>
          </a:p>
          <a:p>
            <a:pPr>
              <a:spcAft>
                <a:spcPts val="10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• Theme- AI / IoT / Environment</a:t>
            </a:r>
          </a:p>
          <a:p>
            <a:pPr>
              <a:spcAft>
                <a:spcPts val="10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• PS Category- Software/Hardware</a:t>
            </a:r>
          </a:p>
          <a:p>
            <a:pPr>
              <a:spcAft>
                <a:spcPts val="10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• Team ID- To be assigned</a:t>
            </a:r>
          </a:p>
          <a:p>
            <a:pPr>
              <a:spcAft>
                <a:spcPts val="10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• Team Name (Registered on portal)- FUN 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p2_0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1456"/>
            <a:ext cx="9144000" cy="360000"/>
          </a:xfrm>
          <a:prstGeom prst="rect">
            <a:avLst/>
          </a:prstGeom>
        </p:spPr>
      </p:pic>
      <p:pic>
        <p:nvPicPr>
          <p:cNvPr id="3" name="Picture 2" descr="img_p1_1_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91440"/>
            <a:ext cx="1687068" cy="795528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46888" y="438912"/>
            <a:ext cx="1005840" cy="950976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00000"/>
                </a:solidFill>
                <a:latin typeface="Arial"/>
              </a:defRPr>
            </a:pPr>
            <a:r>
              <a:t>Team</a:t>
            </a:r>
            <a:br/>
            <a:r>
              <a:t>FUN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SMART RIVER SURVEILLANCE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2340864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97D"/>
                </a:solidFill>
                <a:latin typeface="Arial"/>
              </a:defRPr>
            </a:pPr>
            <a:r>
              <a:t>❖Proposed Solution (Describe your Idea/Solution/Prototype)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292608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Detailed Idea: Live GIS web portal syncing 40+ river stations instantly via CPCB API.</a:t>
            </a:r>
          </a:p>
          <a:p>
            <a:pPr>
              <a:spcAft>
                <a:spcPts val="1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Problem Addressed: Replaces 3-day lab delays with sub-second river health monitoring and early flood alerts.</a:t>
            </a:r>
          </a:p>
          <a:p>
            <a:pPr>
              <a:spcAft>
                <a:spcPts val="1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Innovation: Serverless edge proxy, offline-resilient caching, and automated 1-click A4 PDF inspection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p2_0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1456"/>
            <a:ext cx="9144000" cy="360000"/>
          </a:xfrm>
          <a:prstGeom prst="rect">
            <a:avLst/>
          </a:prstGeom>
        </p:spPr>
      </p:pic>
      <p:pic>
        <p:nvPicPr>
          <p:cNvPr id="3" name="Picture 2" descr="img_p1_1_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91440"/>
            <a:ext cx="1687068" cy="795528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46888" y="438912"/>
            <a:ext cx="1005840" cy="950976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00000"/>
                </a:solidFill>
                <a:latin typeface="Arial"/>
              </a:defRPr>
            </a:pPr>
            <a:r>
              <a:t>Team</a:t>
            </a:r>
            <a:br/>
            <a:r>
              <a:t>FUN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TECHNICAL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Technologies: HTML5, Leaflet GIS map, Chart.js, Node.js Proxy on Vercel Edge, Express API.</a:t>
            </a:r>
          </a:p>
          <a:p>
            <a:pPr>
              <a:spcAft>
                <a:spcPts val="2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Methodology: Ingestion (Telemetry) -&gt; Normalization (CORS/Proxy) -&gt; WQI Computation Engine -&gt; GIS Sync -&gt; Automated PDF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p2_0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1456"/>
            <a:ext cx="9144000" cy="360000"/>
          </a:xfrm>
          <a:prstGeom prst="rect">
            <a:avLst/>
          </a:prstGeom>
        </p:spPr>
      </p:pic>
      <p:pic>
        <p:nvPicPr>
          <p:cNvPr id="3" name="Picture 2" descr="img_p1_1_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91440"/>
            <a:ext cx="1687068" cy="795528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46888" y="438912"/>
            <a:ext cx="1005840" cy="950976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00000"/>
                </a:solidFill>
                <a:latin typeface="Arial"/>
              </a:defRPr>
            </a:pPr>
            <a:r>
              <a:t>Team</a:t>
            </a:r>
            <a:br/>
            <a:r>
              <a:t>FUN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Analysis: Highly feasible; 100% working prototype tracking Indian rivers with zero monthly server costs.</a:t>
            </a:r>
          </a:p>
          <a:p>
            <a:pPr>
              <a:spcAft>
                <a:spcPts val="1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Challenges: Govt server CORS blocking, telemetry API network timeouts, and raw data outlier spikes.</a:t>
            </a:r>
          </a:p>
          <a:p>
            <a:pPr>
              <a:spcAft>
                <a:spcPts val="1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Strategies: Edge proxy middleware, multi-tier resilient fallback caching, and mathematical bounds validation.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p2_0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1456"/>
            <a:ext cx="9144000" cy="360000"/>
          </a:xfrm>
          <a:prstGeom prst="rect">
            <a:avLst/>
          </a:prstGeom>
        </p:spPr>
      </p:pic>
      <p:pic>
        <p:nvPicPr>
          <p:cNvPr id="3" name="Picture 2" descr="img_p1_1_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91440"/>
            <a:ext cx="1687068" cy="795528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46888" y="438912"/>
            <a:ext cx="1005840" cy="950976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00000"/>
                </a:solidFill>
                <a:latin typeface="Arial"/>
              </a:defRPr>
            </a:pPr>
            <a:r>
              <a:t>Team</a:t>
            </a:r>
            <a:br/>
            <a:r>
              <a:t>FUN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Target Audience: CPCB/SPCB pollution officers, disaster flood management units, and communities.</a:t>
            </a:r>
          </a:p>
          <a:p>
            <a:pPr>
              <a:spcAft>
                <a:spcPts val="1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Social Benefit: Prevents water-borne disease outbreaks before toxic water enters municipal pipelines.</a:t>
            </a:r>
          </a:p>
          <a:p>
            <a:pPr>
              <a:spcAft>
                <a:spcPts val="1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Economic &amp; Environmental Benefit: Saves crores on manual testing; protects aquatic biodiversity.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p2_0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1456"/>
            <a:ext cx="9144000" cy="360000"/>
          </a:xfrm>
          <a:prstGeom prst="rect">
            <a:avLst/>
          </a:prstGeom>
        </p:spPr>
      </p:pic>
      <p:pic>
        <p:nvPicPr>
          <p:cNvPr id="3" name="Picture 2" descr="img_p1_1_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91440"/>
            <a:ext cx="1687068" cy="795528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46888" y="438912"/>
            <a:ext cx="1005840" cy="950976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00000"/>
                </a:solidFill>
                <a:latin typeface="Arial"/>
              </a:defRPr>
            </a:pPr>
            <a:r>
              <a:t>Team</a:t>
            </a:r>
            <a:br/>
            <a:r>
              <a:t>FUN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CPCB RTWQMS Database: rtwqmsdb1.cpcb.gov.in</a:t>
            </a:r>
          </a:p>
          <a:p>
            <a:pPr>
              <a:spcAft>
                <a:spcPts val="1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CWC Flood Hydrology Benchmarks: aff.india-water.gov.in</a:t>
            </a:r>
          </a:p>
          <a:p>
            <a:pPr>
              <a:spcAft>
                <a:spcPts val="1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Methodology: Brown et al. 'Weighted Arithmetic WQI Method'</a:t>
            </a:r>
          </a:p>
          <a:p>
            <a:pPr>
              <a:spcAft>
                <a:spcPts val="1400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• Live Prototype: smart-river-surveillance-project.vercel.app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